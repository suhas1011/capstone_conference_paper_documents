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handoutMasterIdLst>
    <p:handoutMasterId r:id="rId9"/>
  </p:handoutMasterIdLst>
  <p:sldIdLst>
    <p:sldId id="538" r:id="rId3"/>
    <p:sldId id="623" r:id="rId4"/>
    <p:sldId id="624" r:id="rId5"/>
    <p:sldId id="625" r:id="rId6"/>
    <p:sldId id="626" r:id="rId7"/>
  </p:sldIdLst>
  <p:sldSz cx="12192000" cy="6858000"/>
  <p:notesSz cx="7010400" cy="92964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rasad Honnavalli" initials="PH"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FF33CC"/>
    <a:srgbClr val="FF0066"/>
    <a:srgbClr val="0000FF"/>
    <a:srgbClr val="33CC33"/>
    <a:srgbClr val="00FFFF"/>
    <a:srgbClr val="6600FF"/>
    <a:srgbClr val="CC66FF"/>
    <a:srgbClr val="62832D"/>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503" autoAdjust="0"/>
    <p:restoredTop sz="93400" autoAdjust="0"/>
  </p:normalViewPr>
  <p:slideViewPr>
    <p:cSldViewPr showGuides="1">
      <p:cViewPr varScale="1">
        <p:scale>
          <a:sx n="82" d="100"/>
          <a:sy n="82" d="100"/>
        </p:scale>
        <p:origin x="605" y="62"/>
      </p:cViewPr>
      <p:guideLst>
        <p:guide orient="horz" pos="2160"/>
        <p:guide pos="3840"/>
      </p:guideLst>
    </p:cSldViewPr>
  </p:slideViewPr>
  <p:notesTextViewPr>
    <p:cViewPr>
      <p:scale>
        <a:sx n="100" d="100"/>
        <a:sy n="100" d="100"/>
      </p:scale>
      <p:origin x="0" y="0"/>
    </p:cViewPr>
  </p:notesTextViewPr>
  <p:sorterViewPr>
    <p:cViewPr>
      <p:scale>
        <a:sx n="90" d="100"/>
        <a:sy n="90" d="100"/>
      </p:scale>
      <p:origin x="0" y="1308"/>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handoutMaster" Target="handoutMasters/handoutMaster1.xml"/><Relationship Id="rId8" Type="http://schemas.openxmlformats.org/officeDocument/2006/relationships/notesMaster" Target="notesMasters/notesMaster1.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commentAuthors" Target="commentAuthors.xml"/><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3038648" cy="46513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sz="quarter" idx="1"/>
          </p:nvPr>
        </p:nvSpPr>
        <p:spPr>
          <a:xfrm>
            <a:off x="3970135" y="0"/>
            <a:ext cx="3038648" cy="465138"/>
          </a:xfrm>
          <a:prstGeom prst="rect">
            <a:avLst/>
          </a:prstGeom>
        </p:spPr>
        <p:txBody>
          <a:bodyPr vert="horz" lIns="91440" tIns="45720" rIns="91440" bIns="45720" rtlCol="0"/>
          <a:lstStyle>
            <a:lvl1pPr algn="r">
              <a:defRPr sz="1200"/>
            </a:lvl1pPr>
          </a:lstStyle>
          <a:p>
            <a:pPr>
              <a:defRPr/>
            </a:pPr>
            <a:fld id="{26A7C97D-3554-44E0-8E72-665D45387ACC}" type="datetimeFigureOut">
              <a:rPr lang="en-US"/>
            </a:fld>
            <a:endParaRPr lang="en-US"/>
          </a:p>
        </p:txBody>
      </p:sp>
      <p:sp>
        <p:nvSpPr>
          <p:cNvPr id="4" name="Footer Placeholder 3"/>
          <p:cNvSpPr>
            <a:spLocks noGrp="1"/>
          </p:cNvSpPr>
          <p:nvPr>
            <p:ph type="ftr" sz="quarter" idx="2"/>
          </p:nvPr>
        </p:nvSpPr>
        <p:spPr>
          <a:xfrm>
            <a:off x="2" y="8829675"/>
            <a:ext cx="3038648" cy="465138"/>
          </a:xfrm>
          <a:prstGeom prst="rect">
            <a:avLst/>
          </a:prstGeom>
        </p:spPr>
        <p:txBody>
          <a:bodyPr vert="horz" lIns="91440" tIns="45720" rIns="91440" bIns="45720" rtlCol="0" anchor="b"/>
          <a:lstStyle>
            <a:lvl1pPr algn="l">
              <a:defRPr sz="1200"/>
            </a:lvl1pPr>
          </a:lstStyle>
          <a:p>
            <a:pPr>
              <a:defRPr/>
            </a:pPr>
            <a:endParaRPr lang="en-US"/>
          </a:p>
        </p:txBody>
      </p:sp>
      <p:sp>
        <p:nvSpPr>
          <p:cNvPr id="5" name="Slide Number Placeholder 4"/>
          <p:cNvSpPr>
            <a:spLocks noGrp="1"/>
          </p:cNvSpPr>
          <p:nvPr>
            <p:ph type="sldNum" sz="quarter" idx="3"/>
          </p:nvPr>
        </p:nvSpPr>
        <p:spPr>
          <a:xfrm>
            <a:off x="3970135" y="8829675"/>
            <a:ext cx="3038648" cy="465138"/>
          </a:xfrm>
          <a:prstGeom prst="rect">
            <a:avLst/>
          </a:prstGeom>
        </p:spPr>
        <p:txBody>
          <a:bodyPr vert="horz" lIns="91440" tIns="45720" rIns="91440" bIns="45720" rtlCol="0" anchor="b"/>
          <a:lstStyle>
            <a:lvl1pPr algn="r">
              <a:defRPr sz="1200"/>
            </a:lvl1pPr>
          </a:lstStyle>
          <a:p>
            <a:pPr>
              <a:defRPr/>
            </a:pPr>
            <a:fld id="{1486DC43-659C-4A17-BDC0-5684401D4FAB}" type="slidenum">
              <a:rPr lang="en-US"/>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3038648" cy="46513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970135" y="0"/>
            <a:ext cx="3038648" cy="465138"/>
          </a:xfrm>
          <a:prstGeom prst="rect">
            <a:avLst/>
          </a:prstGeom>
        </p:spPr>
        <p:txBody>
          <a:bodyPr vert="horz" lIns="91440" tIns="45720" rIns="91440" bIns="45720" rtlCol="0"/>
          <a:lstStyle>
            <a:lvl1pPr algn="r">
              <a:defRPr sz="1200"/>
            </a:lvl1pPr>
          </a:lstStyle>
          <a:p>
            <a:pPr>
              <a:defRPr/>
            </a:pPr>
            <a:fld id="{C973BE83-6A1D-4DA3-83D0-ED76C71EFE38}" type="datetimeFigureOut">
              <a:rPr lang="en-US"/>
            </a:fld>
            <a:endParaRPr lang="en-US"/>
          </a:p>
        </p:txBody>
      </p:sp>
      <p:sp>
        <p:nvSpPr>
          <p:cNvPr id="4" name="Slide Image Placeholder 3"/>
          <p:cNvSpPr>
            <a:spLocks noGrp="1" noRot="1" noChangeAspect="1"/>
          </p:cNvSpPr>
          <p:nvPr>
            <p:ph type="sldImg" idx="2"/>
          </p:nvPr>
        </p:nvSpPr>
        <p:spPr>
          <a:xfrm>
            <a:off x="407988" y="696913"/>
            <a:ext cx="6196012" cy="348615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701848" y="4416426"/>
            <a:ext cx="5608320" cy="4183063"/>
          </a:xfrm>
          <a:prstGeom prst="rect">
            <a:avLst/>
          </a:prstGeom>
        </p:spPr>
        <p:txBody>
          <a:bodyPr vert="horz" lIns="91440" tIns="45720" rIns="91440" bIns="45720" rtlCol="0">
            <a:normAutofit/>
          </a:bodyPr>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6" name="Footer Placeholder 5"/>
          <p:cNvSpPr>
            <a:spLocks noGrp="1"/>
          </p:cNvSpPr>
          <p:nvPr>
            <p:ph type="ftr" sz="quarter" idx="4"/>
          </p:nvPr>
        </p:nvSpPr>
        <p:spPr>
          <a:xfrm>
            <a:off x="2" y="8829675"/>
            <a:ext cx="3038648" cy="465138"/>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970135" y="8829675"/>
            <a:ext cx="3038648" cy="465138"/>
          </a:xfrm>
          <a:prstGeom prst="rect">
            <a:avLst/>
          </a:prstGeom>
        </p:spPr>
        <p:txBody>
          <a:bodyPr vert="horz" lIns="91440" tIns="45720" rIns="91440" bIns="45720" rtlCol="0" anchor="b"/>
          <a:lstStyle>
            <a:lvl1pPr algn="r">
              <a:defRPr sz="1200"/>
            </a:lvl1pPr>
          </a:lstStyle>
          <a:p>
            <a:pPr>
              <a:defRPr/>
            </a:pPr>
            <a:fld id="{01C81575-24DE-4F6C-A73E-0331B3B2E418}" type="slidenum">
              <a:rPr lang="en-US"/>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2D1A7037-0853-0447-B5BA-F1548123F73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2F0E29-F314-934F-92DB-8EEB8DA68833}"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838200"/>
          </a:xfrm>
        </p:spPr>
        <p:txBody>
          <a:bodyPr/>
          <a:lstStyle>
            <a:lvl1pPr>
              <a:defRPr>
                <a:solidFill>
                  <a:srgbClr val="0066FF"/>
                </a:solidFill>
                <a:latin typeface="+mj-lt"/>
              </a:defRPr>
            </a:lvl1pPr>
          </a:lstStyle>
          <a:p>
            <a:r>
              <a:rPr lang="en-US" dirty="0"/>
              <a:t>Click to edit Master title style</a:t>
            </a:r>
            <a:endParaRPr lang="en-US" dirty="0"/>
          </a:p>
        </p:txBody>
      </p:sp>
      <p:sp>
        <p:nvSpPr>
          <p:cNvPr id="3" name="Content Placeholder 2"/>
          <p:cNvSpPr>
            <a:spLocks noGrp="1"/>
          </p:cNvSpPr>
          <p:nvPr>
            <p:ph idx="1"/>
          </p:nvPr>
        </p:nvSpPr>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2D1A7037-0853-0447-B5BA-F1548123F73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2F0E29-F314-934F-92DB-8EEB8DA68833}" type="slidenum">
              <a:rPr lang="en-US" smtClean="0"/>
            </a:fld>
            <a:endParaRPr lang="en-US"/>
          </a:p>
        </p:txBody>
      </p:sp>
      <p:sp>
        <p:nvSpPr>
          <p:cNvPr id="7" name="Rectangle 6"/>
          <p:cNvSpPr>
            <a:spLocks noChangeArrowheads="1"/>
          </p:cNvSpPr>
          <p:nvPr userDrawn="1"/>
        </p:nvSpPr>
        <p:spPr bwMode="auto">
          <a:xfrm>
            <a:off x="0" y="838201"/>
            <a:ext cx="7620000" cy="36513"/>
          </a:xfrm>
          <a:prstGeom prst="rect">
            <a:avLst/>
          </a:prstGeom>
          <a:solidFill>
            <a:srgbClr val="33CCCC"/>
          </a:solidFill>
          <a:ln w="9525">
            <a:noFill/>
            <a:miter lim="800000"/>
          </a:ln>
        </p:spPr>
        <p:txBody>
          <a:bodyPr wrap="none" anchor="ct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2D1A7037-0853-0447-B5BA-F1548123F73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2F0E29-F314-934F-92DB-8EEB8DA68833}"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2D1A7037-0853-0447-B5BA-F1548123F73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2F0E29-F314-934F-92DB-8EEB8DA68833}"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2D1A7037-0853-0447-B5BA-F1548123F733}"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02F0E29-F314-934F-92DB-8EEB8DA68833}"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66FF"/>
                </a:solidFill>
              </a:defRPr>
            </a:lvl1pPr>
          </a:lstStyle>
          <a:p>
            <a:r>
              <a:rPr lang="en-US" dirty="0"/>
              <a:t>Click to edit Master title style</a:t>
            </a:r>
            <a:endParaRPr lang="en-US" dirty="0"/>
          </a:p>
        </p:txBody>
      </p:sp>
      <p:sp>
        <p:nvSpPr>
          <p:cNvPr id="3" name="Date Placeholder 2"/>
          <p:cNvSpPr>
            <a:spLocks noGrp="1"/>
          </p:cNvSpPr>
          <p:nvPr>
            <p:ph type="dt" sz="half" idx="10"/>
          </p:nvPr>
        </p:nvSpPr>
        <p:spPr/>
        <p:txBody>
          <a:bodyPr/>
          <a:lstStyle/>
          <a:p>
            <a:fld id="{2D1A7037-0853-0447-B5BA-F1548123F733}"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02F0E29-F314-934F-92DB-8EEB8DA68833}"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1A7037-0853-0447-B5BA-F1548123F733}"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02F0E29-F314-934F-92DB-8EEB8DA68833}"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2D1A7037-0853-0447-B5BA-F1548123F73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2F0E29-F314-934F-92DB-8EEB8DA68833}"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2D1A7037-0853-0447-B5BA-F1548123F73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2F0E29-F314-934F-92DB-8EEB8DA68833}"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image" Target="../media/image1.png"/><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118443"/>
            <a:ext cx="10515600" cy="930275"/>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295400"/>
            <a:ext cx="10515600" cy="48815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1A7037-0853-0447-B5BA-F1548123F733}"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2F0E29-F314-934F-92DB-8EEB8DA68833}" type="slidenum">
              <a:rPr lang="en-US" smtClean="0"/>
            </a:fld>
            <a:endParaRPr lang="en-US"/>
          </a:p>
        </p:txBody>
      </p:sp>
      <p:pic>
        <p:nvPicPr>
          <p:cNvPr id="7" name="Picture 6" descr="PESSAT - All India Online Entrance Exam for Admission to PES University"/>
          <p:cNvPicPr>
            <a:picLocks noChangeAspect="1" noChangeArrowheads="1"/>
          </p:cNvPicPr>
          <p:nvPr userDrawn="1"/>
        </p:nvPicPr>
        <p:blipFill>
          <a:blip r:embed="rId10" cstate="print">
            <a:extLst>
              <a:ext uri="{28A0092B-C50C-407E-A947-70E740481C1C}">
                <a14:useLocalDpi xmlns:a14="http://schemas.microsoft.com/office/drawing/2010/main" val="0"/>
              </a:ext>
            </a:extLst>
          </a:blip>
          <a:srcRect/>
          <a:stretch>
            <a:fillRect/>
          </a:stretch>
        </p:blipFill>
        <p:spPr bwMode="auto">
          <a:xfrm>
            <a:off x="10772775" y="339725"/>
            <a:ext cx="1162050" cy="533400"/>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33600" y="685800"/>
            <a:ext cx="7924800" cy="1076325"/>
          </a:xfrm>
          <a:prstGeom prst="rect">
            <a:avLst/>
          </a:prstGeom>
        </p:spPr>
        <p:txBody>
          <a:bodyPr wrap="square">
            <a:spAutoFit/>
          </a:bodyPr>
          <a:lstStyle/>
          <a:p>
            <a:pPr algn="ctr"/>
            <a:r>
              <a:rPr lang="en-US" altLang="en-US" sz="3200" b="1" dirty="0">
                <a:solidFill>
                  <a:srgbClr val="FF0000"/>
                </a:solidFill>
                <a:latin typeface="Times New Roman" panose="02020603050405020304" charset="0"/>
                <a:cs typeface="Times New Roman" panose="02020603050405020304" charset="0"/>
              </a:rPr>
              <a:t>9th International Conference on Inventive Computation Technologies</a:t>
            </a:r>
            <a:endParaRPr lang="en-US" altLang="en-US" sz="3200" b="1" dirty="0">
              <a:solidFill>
                <a:srgbClr val="FF0000"/>
              </a:solidFill>
              <a:latin typeface="Times New Roman" panose="02020603050405020304" charset="0"/>
              <a:cs typeface="Times New Roman" panose="02020603050405020304" charset="0"/>
            </a:endParaRPr>
          </a:p>
        </p:txBody>
      </p:sp>
      <p:sp>
        <p:nvSpPr>
          <p:cNvPr id="4" name="Google Shape;26;p3"/>
          <p:cNvSpPr txBox="1"/>
          <p:nvPr/>
        </p:nvSpPr>
        <p:spPr>
          <a:xfrm>
            <a:off x="571500" y="1981200"/>
            <a:ext cx="11288395" cy="3962400"/>
          </a:xfrm>
          <a:prstGeom prst="rect">
            <a:avLst/>
          </a:prstGeom>
          <a:noFill/>
          <a:ln>
            <a:noFill/>
          </a:ln>
        </p:spPr>
        <p:txBody>
          <a:bodyPr spcFirstLastPara="1" wrap="square" lIns="91425" tIns="45700" rIns="91425" bIns="45700" anchor="t" anchorCtr="0">
            <a:noAutofit/>
          </a:bodyPr>
          <a:lstStyle/>
          <a:p>
            <a:pPr algn="l">
              <a:spcBef>
                <a:spcPts val="0"/>
              </a:spcBef>
              <a:spcAft>
                <a:spcPts val="0"/>
              </a:spcAft>
              <a:buClr>
                <a:schemeClr val="dk1"/>
              </a:buClr>
            </a:pPr>
            <a:r>
              <a:rPr lang="en-US" altLang="en-US" sz="2400" b="1" dirty="0">
                <a:solidFill>
                  <a:schemeClr val="tx1"/>
                </a:solidFill>
                <a:latin typeface="Times New Roman" panose="02020603050405020304" charset="0"/>
                <a:ea typeface="Trebuchet MS" panose="020B0603020202020204"/>
                <a:cs typeface="Times New Roman" panose="02020603050405020304" charset="0"/>
                <a:sym typeface="Trebuchet MS" panose="020B0603020202020204"/>
              </a:rPr>
              <a:t>Paper ID : ICICT-1214</a:t>
            </a:r>
            <a:endParaRPr lang="en-US" altLang="en-US" sz="2400" b="1" dirty="0">
              <a:solidFill>
                <a:schemeClr val="tx1"/>
              </a:solidFill>
              <a:latin typeface="Times New Roman" panose="02020603050405020304" charset="0"/>
              <a:ea typeface="Trebuchet MS" panose="020B0603020202020204"/>
              <a:cs typeface="Times New Roman" panose="02020603050405020304" charset="0"/>
              <a:sym typeface="Trebuchet MS" panose="020B0603020202020204"/>
            </a:endParaRPr>
          </a:p>
          <a:p>
            <a:pPr algn="l">
              <a:spcBef>
                <a:spcPts val="0"/>
              </a:spcBef>
              <a:spcAft>
                <a:spcPts val="0"/>
              </a:spcAft>
              <a:buClr>
                <a:schemeClr val="dk1"/>
              </a:buClr>
            </a:pPr>
            <a:endParaRPr lang="en-US" altLang="en-US" sz="2400" b="1" dirty="0">
              <a:solidFill>
                <a:schemeClr val="tx1"/>
              </a:solidFill>
              <a:latin typeface="Times New Roman" panose="02020603050405020304" charset="0"/>
              <a:ea typeface="Trebuchet MS" panose="020B0603020202020204"/>
              <a:cs typeface="Times New Roman" panose="02020603050405020304" charset="0"/>
              <a:sym typeface="Trebuchet MS" panose="020B0603020202020204"/>
            </a:endParaRPr>
          </a:p>
          <a:p>
            <a:pPr algn="l">
              <a:spcBef>
                <a:spcPts val="0"/>
              </a:spcBef>
              <a:spcAft>
                <a:spcPts val="0"/>
              </a:spcAft>
              <a:buClr>
                <a:schemeClr val="dk1"/>
              </a:buClr>
            </a:pPr>
            <a:r>
              <a:rPr lang="en-US" altLang="en-US" sz="2400" b="1" dirty="0">
                <a:solidFill>
                  <a:schemeClr val="tx1"/>
                </a:solidFill>
                <a:latin typeface="Times New Roman" panose="02020603050405020304" charset="0"/>
                <a:ea typeface="Trebuchet MS" panose="020B0603020202020204"/>
                <a:cs typeface="Times New Roman" panose="02020603050405020304" charset="0"/>
                <a:sym typeface="Trebuchet MS" panose="020B0603020202020204"/>
              </a:rPr>
              <a:t>Paper Title : Detection And Mitigation of Replay Attacks in CCTV Systems</a:t>
            </a:r>
            <a:endParaRPr lang="en-US" altLang="en-US" sz="2400" b="1" dirty="0">
              <a:solidFill>
                <a:schemeClr val="tx1"/>
              </a:solidFill>
              <a:latin typeface="Times New Roman" panose="02020603050405020304" charset="0"/>
              <a:ea typeface="Trebuchet MS" panose="020B0603020202020204"/>
              <a:cs typeface="Times New Roman" panose="02020603050405020304" charset="0"/>
              <a:sym typeface="Trebuchet MS" panose="020B0603020202020204"/>
            </a:endParaRPr>
          </a:p>
          <a:p>
            <a:pPr algn="l">
              <a:spcBef>
                <a:spcPts val="0"/>
              </a:spcBef>
              <a:spcAft>
                <a:spcPts val="0"/>
              </a:spcAft>
              <a:buClr>
                <a:schemeClr val="dk1"/>
              </a:buClr>
            </a:pPr>
            <a:endParaRPr lang="en-US" altLang="en-US" sz="2400" b="1" dirty="0">
              <a:solidFill>
                <a:schemeClr val="tx1"/>
              </a:solidFill>
              <a:latin typeface="Times New Roman" panose="02020603050405020304" charset="0"/>
              <a:ea typeface="Trebuchet MS" panose="020B0603020202020204"/>
              <a:cs typeface="Times New Roman" panose="02020603050405020304" charset="0"/>
              <a:sym typeface="Trebuchet MS" panose="020B0603020202020204"/>
            </a:endParaRPr>
          </a:p>
          <a:p>
            <a:pPr algn="l">
              <a:spcBef>
                <a:spcPts val="0"/>
              </a:spcBef>
              <a:spcAft>
                <a:spcPts val="0"/>
              </a:spcAft>
              <a:buClr>
                <a:schemeClr val="dk1"/>
              </a:buClr>
            </a:pPr>
            <a:r>
              <a:rPr lang="en-US" altLang="en-US" sz="2400" b="1" dirty="0">
                <a:solidFill>
                  <a:schemeClr val="tx1"/>
                </a:solidFill>
                <a:latin typeface="Times New Roman" panose="02020603050405020304" charset="0"/>
                <a:ea typeface="Trebuchet MS" panose="020B0603020202020204"/>
                <a:cs typeface="Times New Roman" panose="02020603050405020304" charset="0"/>
                <a:sym typeface="Trebuchet MS" panose="020B0603020202020204"/>
              </a:rPr>
              <a:t>Authors : Shreyas Suresh, Soumya Ranjan Mishra, Suhas Venkata Karmalaputti, </a:t>
            </a:r>
            <a:r>
              <a:rPr lang="en-US" altLang="en-US" sz="2400" b="1" dirty="0">
                <a:latin typeface="Times New Roman" panose="02020603050405020304" charset="0"/>
                <a:ea typeface="Trebuchet MS" panose="020B0603020202020204"/>
                <a:cs typeface="Times New Roman" panose="02020603050405020304" charset="0"/>
                <a:sym typeface="Trebuchet MS" panose="020B0603020202020204"/>
              </a:rPr>
              <a:t>Mohit Prasad Singh,</a:t>
            </a:r>
            <a:r>
              <a:rPr lang="en-IN" altLang="en-US" sz="2400" b="1" dirty="0">
                <a:latin typeface="Times New Roman" panose="02020603050405020304" charset="0"/>
                <a:ea typeface="Trebuchet MS" panose="020B0603020202020204"/>
                <a:cs typeface="Times New Roman" panose="02020603050405020304" charset="0"/>
                <a:sym typeface="Trebuchet MS" panose="020B0603020202020204"/>
              </a:rPr>
              <a:t> </a:t>
            </a:r>
            <a:r>
              <a:rPr lang="en-US" altLang="en-US" sz="2400" b="1" dirty="0">
                <a:solidFill>
                  <a:schemeClr val="tx1"/>
                </a:solidFill>
                <a:latin typeface="Times New Roman" panose="02020603050405020304" charset="0"/>
                <a:ea typeface="Trebuchet MS" panose="020B0603020202020204"/>
                <a:cs typeface="Times New Roman" panose="02020603050405020304" charset="0"/>
                <a:sym typeface="Trebuchet MS" panose="020B0603020202020204"/>
              </a:rPr>
              <a:t>Dr. Manju</a:t>
            </a:r>
            <a:endParaRPr lang="en-US" altLang="en-US" sz="2400" b="1" dirty="0">
              <a:solidFill>
                <a:schemeClr val="tx1"/>
              </a:solidFill>
              <a:latin typeface="Times New Roman" panose="02020603050405020304" charset="0"/>
              <a:ea typeface="Trebuchet MS" panose="020B0603020202020204"/>
              <a:cs typeface="Times New Roman" panose="02020603050405020304" charset="0"/>
              <a:sym typeface="Trebuchet MS" panose="020B0603020202020204"/>
            </a:endParaRPr>
          </a:p>
          <a:p>
            <a:pPr algn="l">
              <a:spcBef>
                <a:spcPts val="0"/>
              </a:spcBef>
              <a:spcAft>
                <a:spcPts val="0"/>
              </a:spcAft>
              <a:buClr>
                <a:schemeClr val="dk1"/>
              </a:buClr>
            </a:pPr>
            <a:endParaRPr lang="en-US" altLang="en-US" sz="2400" b="1" dirty="0">
              <a:solidFill>
                <a:schemeClr val="tx1"/>
              </a:solidFill>
              <a:latin typeface="Times New Roman" panose="02020603050405020304" charset="0"/>
              <a:ea typeface="Trebuchet MS" panose="020B0603020202020204"/>
              <a:cs typeface="Times New Roman" panose="02020603050405020304" charset="0"/>
              <a:sym typeface="Trebuchet MS" panose="020B0603020202020204"/>
            </a:endParaRPr>
          </a:p>
          <a:p>
            <a:pPr algn="l">
              <a:spcBef>
                <a:spcPts val="0"/>
              </a:spcBef>
              <a:spcAft>
                <a:spcPts val="0"/>
              </a:spcAft>
              <a:buClr>
                <a:schemeClr val="dk1"/>
              </a:buClr>
            </a:pPr>
            <a:r>
              <a:rPr lang="en-US" altLang="en-US" sz="2400" b="1" dirty="0">
                <a:solidFill>
                  <a:schemeClr val="tx1"/>
                </a:solidFill>
                <a:latin typeface="Times New Roman" panose="02020603050405020304" charset="0"/>
                <a:ea typeface="Trebuchet MS" panose="020B0603020202020204"/>
                <a:cs typeface="Times New Roman" panose="02020603050405020304" charset="0"/>
                <a:sym typeface="Trebuchet MS" panose="020B0603020202020204"/>
              </a:rPr>
              <a:t>Affiliation : Department of Computer Science and Engineering, PES University</a:t>
            </a:r>
            <a:endParaRPr lang="en-US" altLang="en-US" sz="2400" b="1" dirty="0">
              <a:solidFill>
                <a:schemeClr val="tx1"/>
              </a:solidFill>
              <a:latin typeface="Times New Roman" panose="02020603050405020304" charset="0"/>
              <a:ea typeface="Trebuchet MS" panose="020B0603020202020204"/>
              <a:cs typeface="Times New Roman" panose="02020603050405020304" charset="0"/>
              <a:sym typeface="Trebuchet MS" panose="020B0603020202020204"/>
            </a:endParaRPr>
          </a:p>
          <a:p>
            <a:pPr algn="l">
              <a:spcBef>
                <a:spcPts val="0"/>
              </a:spcBef>
              <a:spcAft>
                <a:spcPts val="0"/>
              </a:spcAft>
              <a:buClr>
                <a:schemeClr val="dk1"/>
              </a:buClr>
            </a:pPr>
            <a:endParaRPr lang="en-US" altLang="en-US" sz="2400" b="1" dirty="0">
              <a:solidFill>
                <a:schemeClr val="tx1"/>
              </a:solidFill>
              <a:latin typeface="Times New Roman" panose="02020603050405020304" charset="0"/>
              <a:ea typeface="Trebuchet MS" panose="020B0603020202020204"/>
              <a:cs typeface="Times New Roman" panose="02020603050405020304" charset="0"/>
              <a:sym typeface="Trebuchet MS" panose="020B0603020202020204"/>
            </a:endParaRPr>
          </a:p>
          <a:p>
            <a:pPr algn="l">
              <a:spcBef>
                <a:spcPts val="0"/>
              </a:spcBef>
              <a:spcAft>
                <a:spcPts val="0"/>
              </a:spcAft>
              <a:buClr>
                <a:schemeClr val="dk1"/>
              </a:buClr>
            </a:pPr>
            <a:r>
              <a:rPr lang="en-US" altLang="en-US" sz="2400" b="1" dirty="0">
                <a:solidFill>
                  <a:schemeClr val="tx1"/>
                </a:solidFill>
                <a:latin typeface="Times New Roman" panose="02020603050405020304" charset="0"/>
                <a:ea typeface="Trebuchet MS" panose="020B0603020202020204"/>
                <a:cs typeface="Times New Roman" panose="02020603050405020304" charset="0"/>
                <a:sym typeface="Trebuchet MS" panose="020B0603020202020204"/>
              </a:rPr>
              <a:t>Presenting Author : Suhas Venkata Karmalaputti</a:t>
            </a:r>
            <a:r>
              <a:rPr lang="en-US" sz="2400" b="1" dirty="0">
                <a:solidFill>
                  <a:schemeClr val="tx1"/>
                </a:solidFill>
                <a:latin typeface="Times New Roman" panose="02020603050405020304" charset="0"/>
                <a:ea typeface="Trebuchet MS" panose="020B0603020202020204"/>
                <a:cs typeface="Times New Roman" panose="02020603050405020304" charset="0"/>
                <a:sym typeface="Trebuchet MS" panose="020B0603020202020204"/>
              </a:rPr>
              <a:t>   </a:t>
            </a:r>
            <a:r>
              <a:rPr lang="en-US" sz="2400" dirty="0">
                <a:solidFill>
                  <a:srgbClr val="0033CC"/>
                </a:solidFill>
                <a:latin typeface="Trebuchet MS" panose="020B0603020202020204"/>
                <a:ea typeface="Trebuchet MS" panose="020B0603020202020204"/>
                <a:cs typeface="Trebuchet MS" panose="020B0603020202020204"/>
                <a:sym typeface="Trebuchet MS" panose="020B0603020202020204"/>
              </a:rPr>
              <a:t>          </a:t>
            </a:r>
            <a:endParaRPr sz="2400" dirty="0">
              <a:solidFill>
                <a:srgbClr val="0033CC"/>
              </a:solidFill>
              <a:latin typeface="Trebuchet MS" panose="020B0603020202020204"/>
              <a:ea typeface="Trebuchet MS" panose="020B0603020202020204"/>
              <a:cs typeface="Trebuchet MS" panose="020B0603020202020204"/>
              <a:sym typeface="Trebuchet MS" panose="020B0603020202020204"/>
            </a:endParaRPr>
          </a:p>
          <a:p>
            <a:pPr>
              <a:spcBef>
                <a:spcPts val="0"/>
              </a:spcBef>
              <a:spcAft>
                <a:spcPts val="0"/>
              </a:spcAft>
            </a:pPr>
            <a:endParaRPr sz="2400" dirty="0">
              <a:solidFill>
                <a:srgbClr val="0033CC"/>
              </a:solidFill>
              <a:latin typeface="Trebuchet MS" panose="020B0603020202020204"/>
              <a:ea typeface="Trebuchet MS" panose="020B0603020202020204"/>
              <a:cs typeface="Trebuchet MS" panose="020B0603020202020204"/>
              <a:sym typeface="Trebuchet MS" panose="020B0603020202020204"/>
            </a:endParaRPr>
          </a:p>
          <a:p>
            <a:pPr>
              <a:spcBef>
                <a:spcPts val="0"/>
              </a:spcBef>
              <a:spcAft>
                <a:spcPts val="0"/>
              </a:spcAft>
            </a:pPr>
            <a:endParaRPr sz="2400" dirty="0">
              <a:solidFill>
                <a:srgbClr val="0033CC"/>
              </a:solidFill>
              <a:latin typeface="Trebuchet MS" panose="020B0603020202020204"/>
              <a:ea typeface="Trebuchet MS" panose="020B0603020202020204"/>
              <a:cs typeface="Trebuchet MS" panose="020B0603020202020204"/>
              <a:sym typeface="Trebuchet MS" panose="020B0603020202020204"/>
            </a:endParaRPr>
          </a:p>
        </p:txBody>
      </p:sp>
      <p:pic>
        <p:nvPicPr>
          <p:cNvPr id="6" name="Picture 5"/>
          <p:cNvPicPr/>
          <p:nvPr/>
        </p:nvPicPr>
        <p:blipFill>
          <a:blip r:embed="rId1"/>
          <a:stretch>
            <a:fillRect/>
          </a:stretch>
        </p:blipFill>
        <p:spPr>
          <a:xfrm>
            <a:off x="304570" y="304800"/>
            <a:ext cx="889461" cy="10972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Picture 5"/>
          <p:cNvPicPr/>
          <p:nvPr/>
        </p:nvPicPr>
        <p:blipFill>
          <a:blip r:embed="rId1"/>
          <a:stretch>
            <a:fillRect/>
          </a:stretch>
        </p:blipFill>
        <p:spPr>
          <a:xfrm>
            <a:off x="304570" y="304800"/>
            <a:ext cx="889461" cy="1097280"/>
          </a:xfrm>
          <a:prstGeom prst="rect">
            <a:avLst/>
          </a:prstGeom>
        </p:spPr>
      </p:pic>
      <p:sp>
        <p:nvSpPr>
          <p:cNvPr id="2" name="Text Box 1"/>
          <p:cNvSpPr txBox="1"/>
          <p:nvPr/>
        </p:nvSpPr>
        <p:spPr>
          <a:xfrm>
            <a:off x="2944495" y="109220"/>
            <a:ext cx="7462520" cy="1097280"/>
          </a:xfrm>
          <a:prstGeom prst="rect">
            <a:avLst/>
          </a:prstGeom>
          <a:noFill/>
        </p:spPr>
        <p:txBody>
          <a:bodyPr wrap="square" rtlCol="0" anchor="t">
            <a:noAutofit/>
          </a:bodyPr>
          <a:p>
            <a:pPr algn="just"/>
            <a:r>
              <a:rPr lang="en-US" sz="6000" b="1" dirty="0">
                <a:latin typeface="Times New Roman" panose="02020603050405020304" charset="0"/>
                <a:cs typeface="Times New Roman" panose="02020603050405020304" charset="0"/>
                <a:sym typeface="+mn-ea"/>
              </a:rPr>
              <a:t>Problem Statement</a:t>
            </a:r>
            <a:endParaRPr lang="en-US" sz="6000" b="1" dirty="0">
              <a:latin typeface="Times New Roman" panose="02020603050405020304" charset="0"/>
              <a:cs typeface="Times New Roman" panose="02020603050405020304" charset="0"/>
              <a:sym typeface="+mn-ea"/>
            </a:endParaRPr>
          </a:p>
        </p:txBody>
      </p:sp>
      <p:sp>
        <p:nvSpPr>
          <p:cNvPr id="3" name="Text Box 2"/>
          <p:cNvSpPr txBox="1"/>
          <p:nvPr/>
        </p:nvSpPr>
        <p:spPr>
          <a:xfrm>
            <a:off x="381635" y="1414780"/>
            <a:ext cx="11557000" cy="6068695"/>
          </a:xfrm>
          <a:prstGeom prst="rect">
            <a:avLst/>
          </a:prstGeom>
          <a:noFill/>
        </p:spPr>
        <p:txBody>
          <a:bodyPr wrap="square" rtlCol="0" anchor="t">
            <a:noAutofit/>
          </a:bodyPr>
          <a:p>
            <a:pPr lvl="0" algn="just">
              <a:lnSpc>
                <a:spcPct val="100000"/>
              </a:lnSpc>
              <a:spcBef>
                <a:spcPct val="0"/>
              </a:spcBef>
              <a:spcAft>
                <a:spcPct val="35000"/>
              </a:spcAft>
              <a:buNone/>
            </a:pPr>
            <a:r>
              <a:rPr lang="en-US" sz="2000" dirty="0">
                <a:latin typeface="Times New Roman" panose="02020603050405020304" charset="0"/>
                <a:cs typeface="Times New Roman" panose="02020603050405020304" charset="0"/>
                <a:sym typeface="+mn-ea"/>
              </a:rPr>
              <a:t>CCTV systems are vital for surveillance across sectors like banking, transportation, healthcare, and public safety. However, they face growing cyber threats, especially replay attacks, where intercepted video or data streams are retransmitted to deceive the system. This leads to unauthorized access, footage tampering, and compromised surveillance integrity, exposing the need for robust security enhancements. This project proposes an AI-based detection and response system to mitigate replay attacks by integrating machine learning and cryptographic security measures. Key components include: </a:t>
            </a:r>
            <a:endParaRPr lang="en-US" sz="2000" dirty="0">
              <a:latin typeface="Times New Roman" panose="02020603050405020304" charset="0"/>
              <a:cs typeface="Times New Roman" panose="02020603050405020304" charset="0"/>
              <a:sym typeface="+mn-ea"/>
            </a:endParaRPr>
          </a:p>
          <a:p>
            <a:pPr lvl="0" algn="just">
              <a:lnSpc>
                <a:spcPct val="100000"/>
              </a:lnSpc>
              <a:spcBef>
                <a:spcPct val="0"/>
              </a:spcBef>
              <a:spcAft>
                <a:spcPct val="35000"/>
              </a:spcAft>
              <a:buNone/>
            </a:pPr>
            <a:endParaRPr lang="en-US" sz="2000" dirty="0">
              <a:solidFill>
                <a:schemeClr val="tx1"/>
              </a:solidFill>
              <a:latin typeface="Times New Roman" panose="02020603050405020304" charset="0"/>
              <a:cs typeface="Times New Roman" panose="02020603050405020304" charset="0"/>
            </a:endParaRPr>
          </a:p>
          <a:p>
            <a:pPr lvl="0" algn="just">
              <a:lnSpc>
                <a:spcPct val="100000"/>
              </a:lnSpc>
              <a:spcBef>
                <a:spcPct val="0"/>
              </a:spcBef>
              <a:spcAft>
                <a:spcPct val="35000"/>
              </a:spcAft>
              <a:buFont typeface="Arial" panose="020B0604020202020204" pitchFamily="34" charset="0"/>
              <a:buChar char="•"/>
            </a:pPr>
            <a:r>
              <a:rPr lang="en-US" sz="2000" b="1" dirty="0">
                <a:latin typeface="Times New Roman" panose="02020603050405020304" charset="0"/>
                <a:cs typeface="Times New Roman" panose="02020603050405020304" charset="0"/>
                <a:sym typeface="+mn-ea"/>
              </a:rPr>
              <a:t>Secure Communication Protocols: </a:t>
            </a:r>
            <a:r>
              <a:rPr lang="en-US" sz="2000" dirty="0">
                <a:latin typeface="Times New Roman" panose="02020603050405020304" charset="0"/>
                <a:cs typeface="Times New Roman" panose="02020603050405020304" charset="0"/>
                <a:sym typeface="+mn-ea"/>
              </a:rPr>
              <a:t>Encrypting data and verifying stream authenticity. </a:t>
            </a:r>
            <a:endParaRPr lang="en-US" sz="2000" dirty="0">
              <a:solidFill>
                <a:schemeClr val="tx1"/>
              </a:solidFill>
              <a:latin typeface="Times New Roman" panose="02020603050405020304" charset="0"/>
              <a:cs typeface="Times New Roman" panose="02020603050405020304" charset="0"/>
            </a:endParaRPr>
          </a:p>
          <a:p>
            <a:pPr lvl="0" algn="just">
              <a:lnSpc>
                <a:spcPct val="100000"/>
              </a:lnSpc>
              <a:spcBef>
                <a:spcPct val="0"/>
              </a:spcBef>
              <a:spcAft>
                <a:spcPct val="35000"/>
              </a:spcAft>
              <a:buFont typeface="Arial" panose="020B0604020202020204" pitchFamily="34" charset="0"/>
              <a:buChar char="•"/>
            </a:pPr>
            <a:r>
              <a:rPr lang="en-US" sz="2000" b="1" dirty="0">
                <a:latin typeface="Times New Roman" panose="02020603050405020304" charset="0"/>
                <a:cs typeface="Times New Roman" panose="02020603050405020304" charset="0"/>
                <a:sym typeface="+mn-ea"/>
              </a:rPr>
              <a:t>AI-Powered Anomaly Detection: </a:t>
            </a:r>
            <a:r>
              <a:rPr lang="en-US" sz="2000" dirty="0">
                <a:latin typeface="Times New Roman" panose="02020603050405020304" charset="0"/>
                <a:cs typeface="Times New Roman" panose="02020603050405020304" charset="0"/>
                <a:sym typeface="+mn-ea"/>
              </a:rPr>
              <a:t>Identifying timestamp and frame inconsistencies in video streams.</a:t>
            </a:r>
            <a:endParaRPr lang="en-US" sz="2000" dirty="0">
              <a:solidFill>
                <a:schemeClr val="tx1"/>
              </a:solidFill>
              <a:latin typeface="Times New Roman" panose="02020603050405020304" charset="0"/>
              <a:cs typeface="Times New Roman" panose="02020603050405020304" charset="0"/>
            </a:endParaRPr>
          </a:p>
          <a:p>
            <a:pPr lvl="0" algn="just">
              <a:lnSpc>
                <a:spcPct val="100000"/>
              </a:lnSpc>
              <a:spcBef>
                <a:spcPct val="0"/>
              </a:spcBef>
              <a:spcAft>
                <a:spcPct val="35000"/>
              </a:spcAft>
              <a:buFont typeface="Arial" panose="020B0604020202020204" pitchFamily="34" charset="0"/>
              <a:buChar char="•"/>
            </a:pPr>
            <a:r>
              <a:rPr lang="en-US" sz="2000" b="1" dirty="0">
                <a:latin typeface="Times New Roman" panose="02020603050405020304" charset="0"/>
                <a:cs typeface="Times New Roman" panose="02020603050405020304" charset="0"/>
                <a:sym typeface="+mn-ea"/>
              </a:rPr>
              <a:t>Real-Time Automated Response: </a:t>
            </a:r>
            <a:r>
              <a:rPr lang="en-US" sz="2000" dirty="0">
                <a:latin typeface="Times New Roman" panose="02020603050405020304" charset="0"/>
                <a:cs typeface="Times New Roman" panose="02020603050405020304" charset="0"/>
                <a:sym typeface="+mn-ea"/>
              </a:rPr>
              <a:t>Alerting admins, isolating compromised devices, and blocking threats.</a:t>
            </a:r>
            <a:endParaRPr lang="en-US" sz="2000" dirty="0">
              <a:solidFill>
                <a:schemeClr val="tx1"/>
              </a:solidFill>
              <a:latin typeface="Times New Roman" panose="02020603050405020304" charset="0"/>
              <a:cs typeface="Times New Roman" panose="02020603050405020304" charset="0"/>
            </a:endParaRPr>
          </a:p>
          <a:p>
            <a:pPr lvl="0" algn="just">
              <a:lnSpc>
                <a:spcPct val="100000"/>
              </a:lnSpc>
              <a:spcBef>
                <a:spcPct val="0"/>
              </a:spcBef>
              <a:spcAft>
                <a:spcPct val="35000"/>
              </a:spcAft>
              <a:buFont typeface="Arial" panose="020B0604020202020204" pitchFamily="34" charset="0"/>
              <a:buChar char="•"/>
            </a:pPr>
            <a:r>
              <a:rPr lang="en-US" sz="2000" b="1" dirty="0">
                <a:latin typeface="Times New Roman" panose="02020603050405020304" charset="0"/>
                <a:cs typeface="Times New Roman" panose="02020603050405020304" charset="0"/>
                <a:sym typeface="+mn-ea"/>
              </a:rPr>
              <a:t>Modular Design: </a:t>
            </a:r>
            <a:r>
              <a:rPr lang="en-US" sz="2000" dirty="0">
                <a:latin typeface="Times New Roman" panose="02020603050405020304" charset="0"/>
                <a:cs typeface="Times New Roman" panose="02020603050405020304" charset="0"/>
                <a:sym typeface="+mn-ea"/>
              </a:rPr>
              <a:t>Seamlessly integrating with existing infrastructures. The system undergoes vulnerability assessments, machine learning model training, and rigorous testing to ensure effectiveness, scalability, and ease of use. Expected outcomes include improved replay attack detection, enhanced CCTV security, and greater trust in surveillance technologies, making this a significant step towards adaptive, secure surveillance solutions.</a:t>
            </a:r>
            <a:endParaRPr lang="en-US" sz="2000" dirty="0">
              <a:latin typeface="Times New Roman" panose="02020603050405020304" charset="0"/>
              <a:cs typeface="Times New Roman" panose="02020603050405020304" charset="0"/>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Picture 5"/>
          <p:cNvPicPr/>
          <p:nvPr/>
        </p:nvPicPr>
        <p:blipFill>
          <a:blip r:embed="rId1"/>
          <a:stretch>
            <a:fillRect/>
          </a:stretch>
        </p:blipFill>
        <p:spPr>
          <a:xfrm>
            <a:off x="304570" y="304800"/>
            <a:ext cx="889461" cy="1097280"/>
          </a:xfrm>
          <a:prstGeom prst="rect">
            <a:avLst/>
          </a:prstGeom>
        </p:spPr>
      </p:pic>
      <p:sp>
        <p:nvSpPr>
          <p:cNvPr id="3" name="Text Box 2"/>
          <p:cNvSpPr txBox="1"/>
          <p:nvPr/>
        </p:nvSpPr>
        <p:spPr>
          <a:xfrm>
            <a:off x="601980" y="1552575"/>
            <a:ext cx="11082655" cy="4276090"/>
          </a:xfrm>
          <a:prstGeom prst="rect">
            <a:avLst/>
          </a:prstGeom>
          <a:noFill/>
        </p:spPr>
        <p:txBody>
          <a:bodyPr wrap="square" rtlCol="0" anchor="t">
            <a:noAutofit/>
          </a:bodyPr>
          <a:p>
            <a:pPr marL="285750" indent="-285750" algn="just">
              <a:buFont typeface="Arial" panose="020B0604020202020204" pitchFamily="34" charset="0"/>
              <a:buChar char="•"/>
            </a:pPr>
            <a:r>
              <a:rPr lang="en-US" altLang="en-US" sz="2400">
                <a:latin typeface="Times New Roman" panose="02020603050405020304" charset="0"/>
                <a:cs typeface="Times New Roman" panose="02020603050405020304" charset="0"/>
                <a:sym typeface="+mn-ea"/>
              </a:rPr>
              <a:t>This project adopts a hybrid detection framework combining Hierarchical Temporal Memory (HTM) for motion anomaly detection and per</a:t>
            </a:r>
            <a:r>
              <a:rPr lang="en-IN" altLang="en-US" sz="2400">
                <a:latin typeface="Times New Roman" panose="02020603050405020304" charset="0"/>
                <a:cs typeface="Times New Roman" panose="02020603050405020304" charset="0"/>
                <a:sym typeface="+mn-ea"/>
              </a:rPr>
              <a:t>ce</a:t>
            </a:r>
            <a:r>
              <a:rPr lang="en-US" altLang="en-US" sz="2400">
                <a:latin typeface="Times New Roman" panose="02020603050405020304" charset="0"/>
                <a:cs typeface="Times New Roman" panose="02020603050405020304" charset="0"/>
                <a:sym typeface="+mn-ea"/>
              </a:rPr>
              <a:t>petual hashing for content verification in CCTV footage. </a:t>
            </a:r>
            <a:endParaRPr lang="en-US" altLang="en-US" sz="2400">
              <a:latin typeface="Times New Roman" panose="02020603050405020304" charset="0"/>
              <a:cs typeface="Times New Roman" panose="02020603050405020304" charset="0"/>
            </a:endParaRPr>
          </a:p>
          <a:p>
            <a:pPr marL="285750" indent="-285750" algn="just">
              <a:buFont typeface="Arial" panose="020B0604020202020204" pitchFamily="34" charset="0"/>
              <a:buChar char="•"/>
            </a:pPr>
            <a:r>
              <a:rPr lang="en-US" altLang="en-US" sz="2400">
                <a:latin typeface="Times New Roman" panose="02020603050405020304" charset="0"/>
                <a:cs typeface="Times New Roman" panose="02020603050405020304" charset="0"/>
                <a:sym typeface="+mn-ea"/>
              </a:rPr>
              <a:t>The pipeline begins with optical flow extraction to capture motion between frames. </a:t>
            </a:r>
            <a:endParaRPr lang="en-US" altLang="en-US" sz="2400">
              <a:latin typeface="Times New Roman" panose="02020603050405020304" charset="0"/>
              <a:cs typeface="Times New Roman" panose="02020603050405020304" charset="0"/>
            </a:endParaRPr>
          </a:p>
          <a:p>
            <a:pPr marL="285750" indent="-285750" algn="just">
              <a:buFont typeface="Arial" panose="020B0604020202020204" pitchFamily="34" charset="0"/>
              <a:buChar char="•"/>
            </a:pPr>
            <a:r>
              <a:rPr lang="en-US" altLang="en-US" sz="2400">
                <a:latin typeface="Times New Roman" panose="02020603050405020304" charset="0"/>
                <a:cs typeface="Times New Roman" panose="02020603050405020304" charset="0"/>
                <a:sym typeface="+mn-ea"/>
              </a:rPr>
              <a:t>These motion vectors are encoded into Sparse Distributed Representations (SDRs) and processed by HTM, which learns temporal patterns and flags deviations as anomalies. </a:t>
            </a:r>
            <a:endParaRPr lang="en-US" altLang="en-US" sz="2400">
              <a:latin typeface="Times New Roman" panose="02020603050405020304" charset="0"/>
              <a:cs typeface="Times New Roman" panose="02020603050405020304" charset="0"/>
            </a:endParaRPr>
          </a:p>
          <a:p>
            <a:pPr marL="285750" indent="-285750" algn="just">
              <a:buFont typeface="Arial" panose="020B0604020202020204" pitchFamily="34" charset="0"/>
              <a:buChar char="•"/>
            </a:pPr>
            <a:r>
              <a:rPr lang="en-US" altLang="en-US" sz="2400">
                <a:latin typeface="Times New Roman" panose="02020603050405020304" charset="0"/>
                <a:cs typeface="Times New Roman" panose="02020603050405020304" charset="0"/>
                <a:sym typeface="+mn-ea"/>
              </a:rPr>
              <a:t>Simultaneously, perpetual hashing generates consistent hash values for each frame, enabling the detection of repeated or tampered content even under minor visual changes. </a:t>
            </a:r>
            <a:endParaRPr lang="en-US" altLang="en-US" sz="2400">
              <a:latin typeface="Times New Roman" panose="02020603050405020304" charset="0"/>
              <a:cs typeface="Times New Roman" panose="02020603050405020304" charset="0"/>
            </a:endParaRPr>
          </a:p>
          <a:p>
            <a:pPr marL="285750" indent="-285750" algn="just">
              <a:buFont typeface="Arial" panose="020B0604020202020204" pitchFamily="34" charset="0"/>
              <a:buChar char="•"/>
            </a:pPr>
            <a:r>
              <a:rPr lang="en-US" altLang="en-US" sz="2400">
                <a:latin typeface="Times New Roman" panose="02020603050405020304" charset="0"/>
                <a:cs typeface="Times New Roman" panose="02020603050405020304" charset="0"/>
                <a:sym typeface="+mn-ea"/>
              </a:rPr>
              <a:t>An alert logic module fuses HTM scores and hash matches using adaptive thresholds and persistence logic to trigger reliable alerts.</a:t>
            </a:r>
            <a:endParaRPr lang="en-US" altLang="en-US" sz="2400">
              <a:latin typeface="Times New Roman" panose="02020603050405020304" charset="0"/>
              <a:cs typeface="Times New Roman" panose="02020603050405020304" charset="0"/>
              <a:sym typeface="+mn-ea"/>
            </a:endParaRPr>
          </a:p>
        </p:txBody>
      </p:sp>
      <p:sp>
        <p:nvSpPr>
          <p:cNvPr id="4" name="Text Box 3"/>
          <p:cNvSpPr txBox="1"/>
          <p:nvPr/>
        </p:nvSpPr>
        <p:spPr>
          <a:xfrm>
            <a:off x="2667000" y="109220"/>
            <a:ext cx="7462520" cy="1097280"/>
          </a:xfrm>
          <a:prstGeom prst="rect">
            <a:avLst/>
          </a:prstGeom>
          <a:noFill/>
        </p:spPr>
        <p:txBody>
          <a:bodyPr wrap="square" rtlCol="0" anchor="t">
            <a:noAutofit/>
          </a:bodyPr>
          <a:p>
            <a:pPr algn="just"/>
            <a:r>
              <a:rPr lang="en-US" sz="6000" b="1" dirty="0">
                <a:latin typeface="Times New Roman" panose="02020603050405020304" charset="0"/>
                <a:cs typeface="Times New Roman" panose="02020603050405020304" charset="0"/>
                <a:sym typeface="+mn-ea"/>
              </a:rPr>
              <a:t>Pro</a:t>
            </a:r>
            <a:r>
              <a:rPr lang="en-IN" altLang="en-US" sz="6000" b="1" dirty="0">
                <a:latin typeface="Times New Roman" panose="02020603050405020304" charset="0"/>
                <a:cs typeface="Times New Roman" panose="02020603050405020304" charset="0"/>
                <a:sym typeface="+mn-ea"/>
              </a:rPr>
              <a:t>posed Approach</a:t>
            </a:r>
            <a:endParaRPr lang="en-IN" altLang="en-US" sz="6000" b="1" dirty="0">
              <a:latin typeface="Times New Roman" panose="02020603050405020304" charset="0"/>
              <a:cs typeface="Times New Roman" panose="02020603050405020304" charset="0"/>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Image 6"/>
          <p:cNvPicPr/>
          <p:nvPr/>
        </p:nvPicPr>
        <p:blipFill>
          <a:blip r:embed="rId1" cstate="print"/>
          <a:stretch>
            <a:fillRect/>
          </a:stretch>
        </p:blipFill>
        <p:spPr>
          <a:xfrm>
            <a:off x="3124200" y="1066800"/>
            <a:ext cx="5679440" cy="5692775"/>
          </a:xfrm>
          <a:prstGeom prst="rect">
            <a:avLst/>
          </a:prstGeom>
        </p:spPr>
      </p:pic>
      <p:pic>
        <p:nvPicPr>
          <p:cNvPr id="2" name="Picture 1"/>
          <p:cNvPicPr/>
          <p:nvPr/>
        </p:nvPicPr>
        <p:blipFill>
          <a:blip r:embed="rId2"/>
          <a:stretch>
            <a:fillRect/>
          </a:stretch>
        </p:blipFill>
        <p:spPr>
          <a:xfrm>
            <a:off x="304570" y="304800"/>
            <a:ext cx="889461" cy="1097280"/>
          </a:xfrm>
          <a:prstGeom prst="rect">
            <a:avLst/>
          </a:prstGeom>
        </p:spPr>
      </p:pic>
      <p:sp>
        <p:nvSpPr>
          <p:cNvPr id="4" name="Text Box 3"/>
          <p:cNvSpPr txBox="1"/>
          <p:nvPr/>
        </p:nvSpPr>
        <p:spPr>
          <a:xfrm>
            <a:off x="2667000" y="109220"/>
            <a:ext cx="7462520" cy="1097280"/>
          </a:xfrm>
          <a:prstGeom prst="rect">
            <a:avLst/>
          </a:prstGeom>
          <a:noFill/>
        </p:spPr>
        <p:txBody>
          <a:bodyPr wrap="square" rtlCol="0" anchor="t">
            <a:noAutofit/>
          </a:bodyPr>
          <a:p>
            <a:pPr algn="just"/>
            <a:r>
              <a:rPr lang="en-IN" altLang="en-US" sz="6000" b="1" dirty="0">
                <a:latin typeface="Times New Roman" panose="02020603050405020304" charset="0"/>
                <a:cs typeface="Times New Roman" panose="02020603050405020304" charset="0"/>
                <a:sym typeface="+mn-ea"/>
              </a:rPr>
              <a:t>Workflow Diagram</a:t>
            </a:r>
            <a:endParaRPr lang="en-IN" altLang="en-US" sz="6000" b="1" dirty="0">
              <a:latin typeface="Times New Roman" panose="02020603050405020304" charset="0"/>
              <a:cs typeface="Times New Roman" panose="02020603050405020304" charset="0"/>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p:nvPr/>
        </p:nvPicPr>
        <p:blipFill>
          <a:blip r:embed="rId1"/>
          <a:stretch>
            <a:fillRect/>
          </a:stretch>
        </p:blipFill>
        <p:spPr>
          <a:xfrm>
            <a:off x="304570" y="304800"/>
            <a:ext cx="889461" cy="1097280"/>
          </a:xfrm>
          <a:prstGeom prst="rect">
            <a:avLst/>
          </a:prstGeom>
        </p:spPr>
      </p:pic>
      <p:sp>
        <p:nvSpPr>
          <p:cNvPr id="3" name="Text Box 2"/>
          <p:cNvSpPr txBox="1"/>
          <p:nvPr/>
        </p:nvSpPr>
        <p:spPr>
          <a:xfrm>
            <a:off x="517525" y="1644650"/>
            <a:ext cx="11446510" cy="5034915"/>
          </a:xfrm>
          <a:prstGeom prst="rect">
            <a:avLst/>
          </a:prstGeom>
          <a:noFill/>
        </p:spPr>
        <p:txBody>
          <a:bodyPr wrap="square" rtlCol="0" anchor="t">
            <a:noAutofit/>
          </a:bodyPr>
          <a:p>
            <a:pPr algn="just">
              <a:buFont typeface="Arial" panose="020B0604020202020204" pitchFamily="34" charset="0"/>
              <a:buChar char="•"/>
            </a:pPr>
            <a:r>
              <a:rPr lang="en-US" altLang="en-US" sz="3200">
                <a:latin typeface="Times New Roman" panose="02020603050405020304" charset="0"/>
                <a:cs typeface="Times New Roman" panose="02020603050405020304" charset="0"/>
                <a:sym typeface="+mn-ea"/>
              </a:rPr>
              <a:t>The proposed system demonstrated high efficacy during validation in a simulated CCTV environment. </a:t>
            </a:r>
            <a:endParaRPr lang="en-US" altLang="en-US" sz="3200">
              <a:latin typeface="Times New Roman" panose="02020603050405020304" charset="0"/>
              <a:cs typeface="Times New Roman" panose="02020603050405020304" charset="0"/>
            </a:endParaRPr>
          </a:p>
          <a:p>
            <a:pPr algn="just">
              <a:buFont typeface="Arial" panose="020B0604020202020204" pitchFamily="34" charset="0"/>
              <a:buChar char="•"/>
            </a:pPr>
            <a:r>
              <a:rPr lang="en-US" altLang="en-US" sz="3200">
                <a:latin typeface="Times New Roman" panose="02020603050405020304" charset="0"/>
                <a:cs typeface="Times New Roman" panose="02020603050405020304" charset="0"/>
                <a:sym typeface="+mn-ea"/>
              </a:rPr>
              <a:t>The HTM detection module successfully identified attacks by distinguishing between normal temporal patterns and artificial replay loops, flagging threats as anomalies. </a:t>
            </a:r>
            <a:endParaRPr lang="en-US" altLang="en-US" sz="3200">
              <a:latin typeface="Times New Roman" panose="02020603050405020304" charset="0"/>
              <a:cs typeface="Times New Roman" panose="02020603050405020304" charset="0"/>
            </a:endParaRPr>
          </a:p>
          <a:p>
            <a:pPr algn="just">
              <a:buFont typeface="Arial" panose="020B0604020202020204" pitchFamily="34" charset="0"/>
              <a:buChar char="•"/>
            </a:pPr>
            <a:r>
              <a:rPr lang="en-US" altLang="en-US" sz="3200">
                <a:latin typeface="Times New Roman" panose="02020603050405020304" charset="0"/>
                <a:cs typeface="Times New Roman" panose="02020603050405020304" charset="0"/>
                <a:sym typeface="+mn-ea"/>
              </a:rPr>
              <a:t>Concurrently, the "Gatekeeper" mitigation logic functioned as an effective firewall, immediately blocking detected threats and ensuring only authenticated footage was committed to the trusted ledger, while the dashboard provided administrators with immediate, actionable alerts.</a:t>
            </a:r>
            <a:endParaRPr lang="en-US" altLang="en-US" sz="3200">
              <a:latin typeface="Times New Roman" panose="02020603050405020304" charset="0"/>
              <a:cs typeface="Times New Roman" panose="02020603050405020304" charset="0"/>
              <a:sym typeface="+mn-ea"/>
            </a:endParaRPr>
          </a:p>
        </p:txBody>
      </p:sp>
      <p:sp>
        <p:nvSpPr>
          <p:cNvPr id="4" name="Text Box 3"/>
          <p:cNvSpPr txBox="1"/>
          <p:nvPr/>
        </p:nvSpPr>
        <p:spPr>
          <a:xfrm>
            <a:off x="2667000" y="109220"/>
            <a:ext cx="7462520" cy="1097280"/>
          </a:xfrm>
          <a:prstGeom prst="rect">
            <a:avLst/>
          </a:prstGeom>
          <a:noFill/>
        </p:spPr>
        <p:txBody>
          <a:bodyPr wrap="square" rtlCol="0" anchor="t">
            <a:noAutofit/>
          </a:bodyPr>
          <a:p>
            <a:pPr algn="just"/>
            <a:r>
              <a:rPr lang="en-IN" altLang="en-US" sz="6000" b="1" dirty="0">
                <a:latin typeface="Times New Roman" panose="02020603050405020304" charset="0"/>
                <a:cs typeface="Times New Roman" panose="02020603050405020304" charset="0"/>
                <a:sym typeface="+mn-ea"/>
              </a:rPr>
              <a:t>Results &amp; Conclusion</a:t>
            </a:r>
            <a:endParaRPr lang="en-IN" altLang="en-US" sz="6000" b="1" dirty="0">
              <a:latin typeface="Times New Roman" panose="02020603050405020304" charset="0"/>
              <a:cs typeface="Times New Roman" panose="02020603050405020304" charset="0"/>
              <a:sym typeface="+mn-ea"/>
            </a:endParaRP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Capstone Project - Review 3 - Template (1)</Template>
  <TotalTime>0</TotalTime>
  <Words>3066</Words>
  <Application>WPS Presentation</Application>
  <PresentationFormat>Widescreen</PresentationFormat>
  <Paragraphs>39</Paragraphs>
  <Slides>5</Slides>
  <Notes>6</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5</vt:i4>
      </vt:variant>
    </vt:vector>
  </HeadingPairs>
  <TitlesOfParts>
    <vt:vector size="15" baseType="lpstr">
      <vt:lpstr>Arial</vt:lpstr>
      <vt:lpstr>SimSun</vt:lpstr>
      <vt:lpstr>Wingdings</vt:lpstr>
      <vt:lpstr>Times New Roman</vt:lpstr>
      <vt:lpstr>Trebuchet MS</vt:lpstr>
      <vt:lpstr>Microsoft YaHei</vt:lpstr>
      <vt:lpstr>Arial Unicode MS</vt:lpstr>
      <vt:lpstr>Calibri Light</vt:lpstr>
      <vt:lpstr>Calibri</vt:lpstr>
      <vt:lpstr>Custom Design</vt:lpstr>
      <vt:lpstr>PowerPoint 演示文稿</vt:lpstr>
      <vt:lpstr>PowerPoint 演示文稿</vt:lpstr>
      <vt:lpstr>PowerPoint 演示文稿</vt:lpstr>
      <vt:lpstr>PowerPoint 演示文稿</vt:lpstr>
      <vt:lpstr>PowerPoint 演示文稿</vt:lpstr>
    </vt:vector>
  </TitlesOfParts>
  <Company>KTwo Technology Solutions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Sunitha R</dc:creator>
  <cp:lastModifiedBy>Suhas Karamaputti</cp:lastModifiedBy>
  <cp:revision>605</cp:revision>
  <dcterms:created xsi:type="dcterms:W3CDTF">2020-11-22T08:14:00Z</dcterms:created>
  <dcterms:modified xsi:type="dcterms:W3CDTF">2026-04-15T15:41:54Z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ReviewCycle">
    <vt:lpwstr/>
  </property>
  <property fmtid="{D5CDD505-2E9C-101B-9397-08002B2CF9AE}" pid="3" name="ICV">
    <vt:lpwstr>7DB258E3E8F349DC9D717A1D40CD0F9B_12</vt:lpwstr>
  </property>
  <property fmtid="{D5CDD505-2E9C-101B-9397-08002B2CF9AE}" pid="4" name="KSOProductBuildVer">
    <vt:lpwstr>1033-12.1.0.25242</vt:lpwstr>
  </property>
</Properties>
</file>